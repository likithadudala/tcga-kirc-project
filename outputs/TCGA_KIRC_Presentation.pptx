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749039"/>
          </a:xfrm>
          <a:prstGeom prst="rect">
            <a:avLst/>
          </a:prstGeom>
          <a:solidFill>
            <a:srgbClr val="00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49039"/>
            <a:ext cx="9144000" cy="31089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11880"/>
            <a:ext cx="9144000" cy="137160"/>
          </a:xfrm>
          <a:prstGeom prst="rect">
            <a:avLst/>
          </a:prstGeom>
          <a:solidFill>
            <a:srgbClr val="E6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TCGA KIRC — Survival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BBD4FF"/>
                </a:solidFill>
              </a:rPr>
              <a:t>Multi-Model Survival Prediction · Kidney Renal Clear Cell Carcinoma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86200"/>
            <a:ext cx="64008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977639"/>
            <a:ext cx="6217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53A5"/>
                </a:solidFill>
              </a:rPr>
              <a:t>Student Name:  </a:t>
            </a:r>
            <a:r>
              <a:rPr sz="1300">
                <a:solidFill>
                  <a:srgbClr val="1A1A2E"/>
                </a:solidFill>
              </a:rPr>
              <a:t>[STUDENT NAME]</a:t>
            </a:r>
          </a:p>
          <a:p>
            <a:pPr algn="ctr"/>
            <a:r>
              <a:rPr sz="1300" b="1">
                <a:solidFill>
                  <a:srgbClr val="0053A5"/>
                </a:solidFill>
              </a:rPr>
              <a:t>College:  </a:t>
            </a:r>
            <a:r>
              <a:rPr sz="1300">
                <a:solidFill>
                  <a:srgbClr val="1A1A2E"/>
                </a:solidFill>
              </a:rPr>
              <a:t>[COLLEGE]</a:t>
            </a:r>
          </a:p>
          <a:p>
            <a:pPr algn="ctr"/>
            <a:r>
              <a:rPr sz="1300" b="1">
                <a:solidFill>
                  <a:srgbClr val="0053A5"/>
                </a:solidFill>
              </a:rPr>
              <a:t>Department:  </a:t>
            </a:r>
            <a:r>
              <a:rPr sz="1300">
                <a:solidFill>
                  <a:srgbClr val="1A1A2E"/>
                </a:solidFill>
              </a:rPr>
              <a:t>[DEPARTMENT]</a:t>
            </a:r>
          </a:p>
          <a:p>
            <a:pPr algn="ctr"/>
            <a:r>
              <a:rPr sz="1300" b="1">
                <a:solidFill>
                  <a:srgbClr val="0053A5"/>
                </a:solidFill>
              </a:rPr>
              <a:t>Email:  </a:t>
            </a:r>
            <a:r>
              <a:rPr sz="1300">
                <a:solidFill>
                  <a:srgbClr val="1A1A2E"/>
                </a:solidFill>
              </a:rPr>
              <a:t>[EMAIL]</a:t>
            </a:r>
          </a:p>
          <a:p>
            <a:pPr algn="ctr"/>
            <a:r>
              <a:rPr sz="1300" b="1">
                <a:solidFill>
                  <a:srgbClr val="0053A5"/>
                </a:solidFill>
              </a:rPr>
              <a:t>Program:  </a:t>
            </a:r>
            <a:r>
              <a:rPr sz="1300">
                <a:solidFill>
                  <a:srgbClr val="1A1A2E"/>
                </a:solidFill>
              </a:rPr>
              <a:t>MS Elevate Internship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6291072"/>
            <a:ext cx="4572000" cy="457200"/>
          </a:xfrm>
          <a:prstGeom prst="rect">
            <a:avLst/>
          </a:prstGeom>
          <a:solidFill>
            <a:srgbClr val="007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62910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Best: LASSO Cox  |  C-index = 0.805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8595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2E"/>
                </a:solidFill>
              </a:rPr>
              <a:t>1.   Problem Statement</a:t>
            </a:r>
          </a:p>
          <a:p>
            <a:pPr/>
            <a:r>
              <a:rPr sz="1300">
                <a:solidFill>
                  <a:srgbClr val="1A1A2E"/>
                </a:solidFill>
              </a:rPr>
              <a:t>2.   Proposed Solution</a:t>
            </a:r>
          </a:p>
          <a:p>
            <a:pPr/>
            <a:r>
              <a:rPr sz="1300">
                <a:solidFill>
                  <a:srgbClr val="1A1A2E"/>
                </a:solidFill>
              </a:rPr>
              <a:t>3.   System Approach &amp; Technical Stack</a:t>
            </a:r>
          </a:p>
          <a:p>
            <a:pPr/>
            <a:r>
              <a:rPr sz="1300">
                <a:solidFill>
                  <a:srgbClr val="1A1A2E"/>
                </a:solidFill>
              </a:rPr>
              <a:t>4.   Algorithm &amp; Deployment</a:t>
            </a:r>
          </a:p>
          <a:p>
            <a:pPr/>
            <a:r>
              <a:rPr sz="1300">
                <a:solidFill>
                  <a:srgbClr val="1A1A2E"/>
                </a:solidFill>
              </a:rPr>
              <a:t>5.   Results &amp; Model Performance</a:t>
            </a:r>
          </a:p>
          <a:p>
            <a:pPr/>
            <a:r>
              <a:rPr sz="1300">
                <a:solidFill>
                  <a:srgbClr val="1A1A2E"/>
                </a:solidFill>
              </a:rPr>
              <a:t>6.   Conclusion</a:t>
            </a:r>
          </a:p>
          <a:p>
            <a:pPr/>
            <a:r>
              <a:rPr sz="1300">
                <a:solidFill>
                  <a:srgbClr val="1A1A2E"/>
                </a:solidFill>
              </a:rPr>
              <a:t>7.   Future Scope</a:t>
            </a:r>
          </a:p>
          <a:p>
            <a:pPr/>
            <a:r>
              <a:rPr sz="1300">
                <a:solidFill>
                  <a:srgbClr val="1A1A2E"/>
                </a:solidFill>
              </a:rPr>
              <a:t>8.   References &amp; GitHub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TCGA KIRC — Survival Analysis  ·  MS Elevate Internship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8595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Clinical Challenge</a:t>
            </a:r>
          </a:p>
          <a:p>
            <a:pPr/>
            <a:r>
              <a:rPr sz="1300">
                <a:solidFill>
                  <a:srgbClr val="1A1A2E"/>
                </a:solidFill>
              </a:rPr>
              <a:t>Kidney Renal Clear Cell Carcinoma (KIRC) is the 3rd most common urological malignancy.</a:t>
            </a:r>
          </a:p>
          <a:p>
            <a:pPr/>
            <a:r>
              <a:rPr sz="1300">
                <a:solidFill>
                  <a:srgbClr val="1A1A2E"/>
                </a:solidFill>
              </a:rPr>
              <a:t>Significant survival heterogeneity exists even within the same AJCC cancer stage.</a:t>
            </a:r>
          </a:p>
          <a:p>
            <a:pPr/>
            <a:r>
              <a:rPr sz="1300">
                <a:solidFill>
                  <a:srgbClr val="1A1A2E"/>
                </a:solidFill>
              </a:rPr>
              <a:t>Clinicians lack quantitative tools to stratify patients by long-term mortality risk.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Data Challenge</a:t>
            </a:r>
          </a:p>
          <a:p>
            <a:pPr/>
            <a:r>
              <a:rPr sz="1300">
                <a:solidFill>
                  <a:srgbClr val="1A1A2E"/>
                </a:solidFill>
              </a:rPr>
              <a:t>TCGA-KIRC cohort: 529 patients, 2,000 high-variance genes + clinical features.</a:t>
            </a:r>
          </a:p>
          <a:p>
            <a:pPr/>
            <a:r>
              <a:rPr sz="1300">
                <a:solidFill>
                  <a:srgbClr val="1A1A2E"/>
                </a:solidFill>
              </a:rPr>
              <a:t>Right-censored survival data — standard regression is inappropriate.</a:t>
            </a:r>
          </a:p>
          <a:p>
            <a:pPr/>
            <a:r>
              <a:rPr sz="1300">
                <a:solidFill>
                  <a:srgbClr val="1A1A2E"/>
                </a:solidFill>
              </a:rPr>
              <a:t>High dimensionality (p &gt;&gt; n) requires regularisation and feature selection.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Research Question</a:t>
            </a:r>
          </a:p>
          <a:p>
            <a:pPr/>
            <a:r>
              <a:rPr sz="1300">
                <a:solidFill>
                  <a:srgbClr val="1A1A2E"/>
                </a:solidFill>
              </a:rPr>
              <a:t>Can multi-model survival analysis on TCGA-KIRC accurately stratify patients into high- and low-risk groups, and which genomic / clinical features drive mortality?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TCGA KIRC — Survival Analysis  ·  MS Elevate Internship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8595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End-to-End Survival Analysis Pipeline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Data Collection:    TCGA-KIRC clinical + gene expression data (GDC Portal)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Preprocessing:      survival target derivation, variance-based gene filtering, standardisation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Feature Engineering:  2,000 high-variance genes + 7 clinical variables (age, stage, gender…)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Machine Learning:   4 complementary survival models (see Algorithm slide)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Evaluation:         Concordance index, Integrated Brier Score, KM risk stratification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Deployment:         Interactive Streamlit dashboard for real-time risk prediction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Key Innovation</a:t>
            </a:r>
          </a:p>
          <a:p>
            <a:pPr/>
            <a:r>
              <a:rPr sz="1300">
                <a:solidFill>
                  <a:srgbClr val="1A1A2E"/>
                </a:solidFill>
              </a:rPr>
              <a:t>Combining genomic expression data with clinical variables across 4 model families (Cox regression, LASSO, ensemble tree-based, deep learning) to identify the strongest predictors of survival in KIRC.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TCGA KIRC — Survival Analysis  ·  MS Elevate Internship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System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0876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Data Sources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TCGA-KIRC: clinical.tsv, follow_up.tsv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kirc_expression.tsv</a:t>
            </a:r>
          </a:p>
          <a:p>
            <a:pPr/>
            <a:r>
              <a:rPr sz="1300">
                <a:solidFill>
                  <a:srgbClr val="1A1A2E"/>
                </a:solidFill>
              </a:rPr>
              <a:t>  · 20,530 genes × 533 tumour samples (-01)</a:t>
            </a:r>
          </a:p>
          <a:p>
            <a:pPr/>
            <a:r>
              <a:rPr sz="1300">
                <a:solidFill>
                  <a:srgbClr val="1A1A2E"/>
                </a:solidFill>
              </a:rPr>
              <a:t>  · Variance filter → top 2,000 genes retained</a:t>
            </a:r>
          </a:p>
          <a:p>
            <a:pPr/>
            <a:r>
              <a:rPr sz="1300">
                <a:solidFill>
                  <a:srgbClr val="1A1A2E"/>
                </a:solidFill>
              </a:rPr>
              <a:t>  · 529 patients with complete survival data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System Requirements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Python 3.12  |  Jupyter Notebook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Streamlit 1.x  |  python-pptx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Git + GitHub (version control)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50876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Core Libraries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pandas / numpy — data wrangling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lifelines — Cox PH, Kaplan-Meier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scikit-survival — LASSO Cox, RSF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PyTorch — DeepSurv neural network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plotly / matplotlib — visualisations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scikit-learn — preprocessing, metrics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Infrastructure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Streamlit Cloud / local deployment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kaleido — static chart export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1572768"/>
            <a:ext cx="45720" cy="475488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92824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TCGA KIRC — Survival Analysis  ·  MS Elevate Internship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0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Algorithm &amp; Deployment</a:t>
            </a:r>
          </a:p>
          <a:p>
            <a:r>
              <a:rPr sz="1300">
                <a:solidFill>
                  <a:srgbClr val="BBD4FF"/>
                </a:solidFill>
              </a:rPr>
              <a:t>4 survival models · 529 patients · 70/30 stratified train/test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8595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1 — Cox Proportional Hazards  (Baseline)</a:t>
            </a:r>
          </a:p>
          <a:p>
            <a:pPr/>
            <a:r>
              <a:rPr sz="1300">
                <a:solidFill>
                  <a:srgbClr val="1A1A2E"/>
                </a:solidFill>
              </a:rPr>
              <a:t>Clinical features only · hazard ratio interpretation · lifelines CoxPHFitter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2 — LASSO-penalised Cox  (Best Model ⭐)</a:t>
            </a:r>
          </a:p>
          <a:p>
            <a:pPr/>
            <a:r>
              <a:rPr sz="1300">
                <a:solidFill>
                  <a:srgbClr val="1A1A2E"/>
                </a:solidFill>
              </a:rPr>
              <a:t>Clinical + 2,000 genes · L1 regularisation for automatic gene selection · scikit-survival CoxnetSurvivalAnalysis · 5-fold CV for alpha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3 — Random Survival Forest</a:t>
            </a:r>
          </a:p>
          <a:p>
            <a:pPr/>
            <a:r>
              <a:rPr sz="1300">
                <a:solidFill>
                  <a:srgbClr val="1A1A2E"/>
                </a:solidFill>
              </a:rPr>
              <a:t>Non-linear ensemble · 200 trees · scikit-survival RandomSurvivalForest · permutation-based feature importance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4 — DeepSurv  (Deep Learning)</a:t>
            </a:r>
          </a:p>
          <a:p>
            <a:pPr/>
            <a:r>
              <a:rPr sz="1300">
                <a:solidFill>
                  <a:srgbClr val="1A1A2E"/>
                </a:solidFill>
              </a:rPr>
              <a:t>3-layer MLP (input → 64 → 32 → 1) · PyTorch · Cox partial-likelihood loss · Adam optimiser · 200 epochs · batch norm + dropout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Deployment — Streamlit Dashboard</a:t>
            </a:r>
          </a:p>
          <a:p>
            <a:pPr/>
            <a:r>
              <a:rPr sz="1300">
                <a:solidFill>
                  <a:srgbClr val="1A1A2E"/>
                </a:solidFill>
              </a:rPr>
              <a:t>Interactive single-page app · real-time risk score · KM stratification · gene importance explorer · risk prediction demo with adjustable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TCGA KIRC — Survival Analysis  ·  MS Elevate Internship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0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Results</a:t>
            </a:r>
          </a:p>
          <a:p>
            <a:r>
              <a:rPr sz="1300">
                <a:solidFill>
                  <a:srgbClr val="BBD4FF"/>
                </a:solidFill>
              </a:rPr>
              <a:t>LASSO Cox  C-index = 0.805  ·  RSF  Integrated Brier Score = 0.154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508760"/>
            <a:ext cx="2880360" cy="1737360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2743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53A5"/>
                </a:solidFill>
              </a:rPr>
              <a:t>C-index comparison</a:t>
            </a:r>
          </a:p>
          <a:p>
            <a:r>
              <a:rPr sz="1100" b="0">
                <a:solidFill>
                  <a:srgbClr val="1A1A2E"/>
                </a:solidFill>
              </a:rPr>
              <a:t>  Cox PH (clinical)  0.781</a:t>
            </a:r>
          </a:p>
          <a:p>
            <a:r>
              <a:rPr sz="1100" b="1">
                <a:solidFill>
                  <a:srgbClr val="0053A5"/>
                </a:solidFill>
              </a:rPr>
              <a:t>  ⭐ LASSO Cox  0.805</a:t>
            </a:r>
          </a:p>
          <a:p>
            <a:r>
              <a:rPr sz="1100" b="0">
                <a:solidFill>
                  <a:srgbClr val="1A1A2E"/>
                </a:solidFill>
              </a:rPr>
              <a:t>  Random Survival Forest  0.716</a:t>
            </a:r>
          </a:p>
          <a:p>
            <a:r>
              <a:rPr sz="1100" b="0">
                <a:solidFill>
                  <a:srgbClr val="1A1A2E"/>
                </a:solidFill>
              </a:rPr>
              <a:t>  DeepSurv  0.764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37560"/>
            <a:ext cx="2743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53A5"/>
                </a:solidFill>
              </a:rPr>
              <a:t>Cohort Summary</a:t>
            </a:r>
          </a:p>
          <a:p>
            <a:r>
              <a:rPr sz="1100">
                <a:solidFill>
                  <a:srgbClr val="1A1A2E"/>
                </a:solidFill>
              </a:rPr>
              <a:t>  Total patients: 529</a:t>
            </a:r>
          </a:p>
          <a:p>
            <a:r>
              <a:rPr sz="1100">
                <a:solidFill>
                  <a:srgbClr val="1A1A2E"/>
                </a:solidFill>
              </a:rPr>
              <a:t>  Events (deaths): 173</a:t>
            </a:r>
          </a:p>
          <a:p>
            <a:r>
              <a:rPr sz="1100">
                <a:solidFill>
                  <a:srgbClr val="1A1A2E"/>
                </a:solidFill>
              </a:rPr>
              <a:t>  Censored: 356</a:t>
            </a:r>
          </a:p>
          <a:p>
            <a:r>
              <a:rPr sz="1100">
                <a:solidFill>
                  <a:srgbClr val="1A1A2E"/>
                </a:solidFill>
              </a:rPr>
              <a:t>  Median follow-up: 1191 days</a:t>
            </a:r>
          </a:p>
          <a:p>
            <a:r>
              <a:rPr sz="1100">
                <a:solidFill>
                  <a:srgbClr val="1A1A2E"/>
                </a:solidFill>
              </a:rPr>
              <a:t>  Genes retained: 2,000</a:t>
            </a:r>
          </a:p>
        </p:txBody>
      </p:sp>
      <p:pic>
        <p:nvPicPr>
          <p:cNvPr id="7" name="Picture 6" descr="09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166360"/>
            <a:ext cx="2880360" cy="1737360"/>
          </a:xfrm>
          <a:prstGeom prst="rect">
            <a:avLst/>
          </a:prstGeom>
        </p:spPr>
      </p:pic>
      <p:pic>
        <p:nvPicPr>
          <p:cNvPr id="8" name="Picture 7" descr="03_km_over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508760"/>
            <a:ext cx="2834640" cy="5394960"/>
          </a:xfrm>
          <a:prstGeom prst="rect">
            <a:avLst/>
          </a:prstGeom>
        </p:spPr>
      </p:pic>
      <p:pic>
        <p:nvPicPr>
          <p:cNvPr id="9" name="Picture 8" descr="11_gene_importance_combin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08760"/>
            <a:ext cx="2834640" cy="5394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592824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TCGA KIRC — Survival Analysis  ·  MS Elevate Internship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8595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Key Findings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LASSO Cox achieved the highest C-index of 0.805 — outperforming clinical-only Cox by ΔC = 0.024.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RSF confirmed complementary non-linear gene interactions; Integrated Brier Score = 0.154.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Kaplan-Meier stratification confirms a clear separation between predicted high- and low-risk groups (log-rank p &lt; 0.001).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LASSO selected a sparse, interpretable gene signature predictive of KIRC mortality.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Project Outcomes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Reproducible end-to-end pipeline from raw TCGA data to trained survival models.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Interactive Streamlit dashboard enabling real-time patient risk prediction.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Clean GitHub repository with complete documentation and requirements.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Limitations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TCGA data may carry selection bias; model not validated on an external cohort.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DeepSurv performance is constrained by the relatively small sample size (n = 529).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TCGA KIRC — Survival Analysis  ·  MS Elevate Internship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8595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Model Improvements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Stacking / ensemble of all 4 models for improved concordance.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Attention-based DeepSurv with pathway-level gene embeddings (Gene Ontology / KEGG).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Multi-omics integration: copy number variation, methylation, proteomics.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Validation &amp; Clinical Translation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External validation on ICGC or CheckMate-025 / IMmotion151 datasets.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Prospective clinical pilot: integrate risk scores with EHR systems.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SHAP values for per-patient risk factor explanation (interpretable AI).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Engineering &amp; Deployment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Deploy Streamlit app to Streamlit Community Cloud or Azure App Service.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REST API (FastAPI) for programmatic risk score queries from clinical systems.</a:t>
            </a:r>
          </a:p>
          <a:p>
            <a:pPr/>
            <a:r>
              <a:rPr sz="1300">
                <a:solidFill>
                  <a:srgbClr val="1A1A2E"/>
                </a:solidFill>
              </a:rPr>
              <a:t>● Automated retraining pipeline as new TCGA data releases become available.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TCGA KIRC — Survival Analysis  ·  MS Elevate Internship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09728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References &amp; 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08760"/>
            <a:ext cx="8595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Datasets</a:t>
            </a:r>
          </a:p>
          <a:p>
            <a:pPr/>
            <a:r>
              <a:rPr sz="1300">
                <a:solidFill>
                  <a:srgbClr val="1A1A2E"/>
                </a:solidFill>
              </a:rPr>
              <a:t>1.  The Cancer Genome Atlas (TCGA) — GDC Data Portal
     https://portal.gdc.cancer.gov/</a:t>
            </a:r>
          </a:p>
          <a:p>
            <a:pPr/>
            <a:r>
              <a:rPr sz="1300">
                <a:solidFill>
                  <a:srgbClr val="1A1A2E"/>
                </a:solidFill>
              </a:rPr>
              <a:t>2.  Project GitHub Repository:
     https://github.com/[USERNAME]/tcga-kirc-project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Libraries &amp; Frameworks</a:t>
            </a:r>
          </a:p>
          <a:p>
            <a:pPr/>
            <a:r>
              <a:rPr sz="1300">
                <a:solidFill>
                  <a:srgbClr val="1A1A2E"/>
                </a:solidFill>
              </a:rPr>
              <a:t>3.  Davidson-Pilon C. (2019). lifelines: survival analysis in Python. Journal of Open Source Software.</a:t>
            </a:r>
          </a:p>
          <a:p>
            <a:pPr/>
            <a:r>
              <a:rPr sz="1300">
                <a:solidFill>
                  <a:srgbClr val="1A1A2E"/>
                </a:solidFill>
              </a:rPr>
              <a:t>4.  Pölsterl S. (2020). scikit-survival: A Library for Time-to-Event Analysis Building on scikit-learn. JMLR.</a:t>
            </a:r>
          </a:p>
          <a:p>
            <a:pPr/>
            <a:r>
              <a:rPr sz="1300">
                <a:solidFill>
                  <a:srgbClr val="1A1A2E"/>
                </a:solidFill>
              </a:rPr>
              <a:t>5.  Katzman J.L. et al. (2018). DeepSurv: personalised treatment recommender system using Cox regression deep neural network. BMC Med Res Methodol.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0053A5"/>
                </a:solidFill>
              </a:rPr>
              <a:t>Clinical Background</a:t>
            </a:r>
          </a:p>
          <a:p>
            <a:pPr/>
            <a:r>
              <a:rPr sz="1300">
                <a:solidFill>
                  <a:srgbClr val="1A1A2E"/>
                </a:solidFill>
              </a:rPr>
              <a:t>6.  Ricketts C.J. et al. (2018). The TCGA KIRC comprehensive molecular characterization. Cell Reports 23(1):313–326.</a:t>
            </a:r>
          </a:p>
          <a:p>
            <a:pPr/>
            <a:r>
              <a:rPr sz="1300">
                <a:solidFill>
                  <a:srgbClr val="1A1A2E"/>
                </a:solidFill>
              </a:rPr>
              <a:t>7.  Srivastava A. et al. (2021). Prognostic gene signatures in clear cell RCC. Cancers 13(6):1407.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92824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TCGA KIRC — Survival Analysis  ·  MS Elevate Internship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109728"/>
          </a:xfrm>
          <a:prstGeom prst="rect">
            <a:avLst/>
          </a:prstGeom>
          <a:solidFill>
            <a:srgbClr val="E6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914400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BBD4FF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BBD4FF"/>
                </a:solidFill>
              </a:rPr>
              <a:t>[STUDENT NAME]  ·  [COLLEGE]  ·  [DEPARTMENT]</a:t>
            </a:r>
          </a:p>
          <a:p>
            <a:pPr algn="ctr"/>
            <a:r>
              <a:rPr sz="1500">
                <a:solidFill>
                  <a:srgbClr val="BBD4FF"/>
                </a:solidFill>
              </a:rPr>
              <a:t>[EMAIL]</a:t>
            </a:r>
          </a:p>
          <a:p>
            <a:pPr algn="ctr"/>
            <a:r>
              <a:rPr sz="1500">
                <a:solidFill>
                  <a:srgbClr val="BBD4FF"/>
                </a:solidFill>
              </a:rPr>
              <a:t>GitHub:  https://github.com/[USERNAME]/tcga-kirc-project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8899AA"/>
                </a:solidFill>
              </a:rPr>
              <a:t>TCGA KIRC — Survival Analysis  ·  MS Elevate Internship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