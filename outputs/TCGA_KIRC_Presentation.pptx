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86384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63840" y="0"/>
            <a:ext cx="4325112" cy="6858000"/>
          </a:xfrm>
          <a:prstGeom prst="rect">
            <a:avLst/>
          </a:prstGeom>
          <a:solidFill>
            <a:srgbClr val="007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00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228600"/>
            <a:ext cx="128016" cy="128016"/>
          </a:xfrm>
          <a:prstGeom prst="rect">
            <a:avLst/>
          </a:prstGeom>
          <a:solidFill>
            <a:srgbClr val="F25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8348" y="228600"/>
            <a:ext cx="128016" cy="128016"/>
          </a:xfrm>
          <a:prstGeom prst="rect">
            <a:avLst/>
          </a:prstGeom>
          <a:solidFill>
            <a:srgbClr val="7FB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472" y="379476"/>
            <a:ext cx="128016" cy="128016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98348" y="379476"/>
            <a:ext cx="128016" cy="128016"/>
          </a:xfrm>
          <a:prstGeom prst="rect">
            <a:avLst/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372" y="21945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2E"/>
                </a:solidFill>
              </a:rPr>
              <a:t>Microsoft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" y="39319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2E"/>
                </a:solidFill>
              </a:rPr>
              <a:t>Elevate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325880"/>
            <a:ext cx="7132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A1A2E"/>
                </a:solidFill>
              </a:rPr>
              <a:t>CAPSTONE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7132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000000"/>
                </a:solidFill>
              </a:rPr>
              <a:t>TCGA KIRC:</a:t>
            </a:r>
          </a:p>
          <a:p>
            <a:r>
              <a:rPr sz="3800" b="1">
                <a:solidFill>
                  <a:srgbClr val="000000"/>
                </a:solidFill>
              </a:rPr>
              <a:t>Survival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3429000"/>
            <a:ext cx="7315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 b="1">
                <a:solidFill>
                  <a:srgbClr val="1A1A2E"/>
                </a:solidFill>
              </a:rPr>
              <a:t>PRESENTED BY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1A1A2E"/>
                </a:solidFill>
              </a:rPr>
              <a:t>STUDENT NAME:  </a:t>
            </a:r>
            <a:r>
              <a:rPr sz="1300" b="0">
                <a:solidFill>
                  <a:srgbClr val="555555"/>
                </a:solidFill>
              </a:rPr>
              <a:t>Likitha Dudala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1A1A2E"/>
                </a:solidFill>
              </a:rPr>
              <a:t>COLLEGE NAME:  </a:t>
            </a:r>
            <a:r>
              <a:rPr sz="1300" b="0">
                <a:solidFill>
                  <a:srgbClr val="555555"/>
                </a:solidFill>
              </a:rPr>
              <a:t>Sardar Vallabhbhai Patel Institute of Technology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1A1A2E"/>
                </a:solidFill>
              </a:rPr>
              <a:t>DEPARTMENT:  </a:t>
            </a:r>
            <a:r>
              <a:rPr sz="1300" b="0">
                <a:solidFill>
                  <a:srgbClr val="555555"/>
                </a:solidFill>
              </a:rPr>
              <a:t>Computer Engineering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1A1A2E"/>
                </a:solidFill>
              </a:rPr>
              <a:t>EMAIL ID:  </a:t>
            </a:r>
            <a:r>
              <a:rPr sz="1300" b="0">
                <a:solidFill>
                  <a:srgbClr val="555555"/>
                </a:solidFill>
              </a:rPr>
              <a:t>likithadudala04@gmail.com</a:t>
            </a:r>
          </a:p>
        </p:txBody>
      </p:sp>
      <p:pic>
        <p:nvPicPr>
          <p:cNvPr id="15" name="Picture 14" descr="03_km_over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320040"/>
            <a:ext cx="4114800" cy="6217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981151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OUTLINE:</a:t>
            </a:r>
          </a:p>
        </p:txBody>
      </p:sp>
      <p:sp>
        <p:nvSpPr>
          <p:cNvPr id="4" name="Rectangle 3"/>
          <p:cNvSpPr/>
          <p:nvPr/>
        </p:nvSpPr>
        <p:spPr>
          <a:xfrm>
            <a:off x="10268712" y="201168"/>
            <a:ext cx="128016" cy="128016"/>
          </a:xfrm>
          <a:prstGeom prst="rect">
            <a:avLst/>
          </a:prstGeom>
          <a:solidFill>
            <a:srgbClr val="F25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419588" y="201168"/>
            <a:ext cx="128016" cy="128016"/>
          </a:xfrm>
          <a:prstGeom prst="rect">
            <a:avLst/>
          </a:prstGeom>
          <a:solidFill>
            <a:srgbClr val="7FB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68712" y="352044"/>
            <a:ext cx="128016" cy="128016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19588" y="352044"/>
            <a:ext cx="128016" cy="128016"/>
          </a:xfrm>
          <a:prstGeom prst="rect">
            <a:avLst/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11612" y="19202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FFFF"/>
                </a:solidFill>
              </a:rPr>
              <a:t>Microsoft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1612" y="36576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FFFF"/>
                </a:solidFill>
              </a:rPr>
              <a:t>Elevate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00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417320"/>
            <a:ext cx="1154887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000000"/>
                </a:solidFill>
              </a:rPr>
              <a:t>Problem Statement</a:t>
            </a:r>
          </a:p>
          <a:p>
            <a:pPr/>
            <a:r>
              <a:rPr sz="1300">
                <a:solidFill>
                  <a:srgbClr val="000000"/>
                </a:solidFill>
              </a:rPr>
              <a:t>Proposed System / Solution</a:t>
            </a:r>
          </a:p>
          <a:p>
            <a:pPr/>
            <a:r>
              <a:rPr sz="1300">
                <a:solidFill>
                  <a:srgbClr val="000000"/>
                </a:solidFill>
              </a:rPr>
              <a:t>System Development Approach  (Technology Used)</a:t>
            </a:r>
          </a:p>
          <a:p>
            <a:pPr/>
            <a:r>
              <a:rPr sz="1300">
                <a:solidFill>
                  <a:srgbClr val="000000"/>
                </a:solidFill>
              </a:rPr>
              <a:t>Algorithm &amp; Deployment</a:t>
            </a:r>
          </a:p>
          <a:p>
            <a:pPr/>
            <a:r>
              <a:rPr sz="1300">
                <a:solidFill>
                  <a:srgbClr val="000000"/>
                </a:solidFill>
              </a:rPr>
              <a:t>Result  (Output Images)</a:t>
            </a:r>
          </a:p>
          <a:p>
            <a:pPr/>
            <a:r>
              <a:rPr sz="1300">
                <a:solidFill>
                  <a:srgbClr val="000000"/>
                </a:solidFill>
              </a:rPr>
              <a:t>Conclusion</a:t>
            </a:r>
          </a:p>
          <a:p>
            <a:pPr/>
            <a:r>
              <a:rPr sz="1300">
                <a:solidFill>
                  <a:srgbClr val="000000"/>
                </a:solidFill>
              </a:rPr>
              <a:t>Future Scope</a:t>
            </a:r>
          </a:p>
          <a:p>
            <a:pPr/>
            <a:r>
              <a:rPr sz="1300">
                <a:solidFill>
                  <a:srgbClr val="000000"/>
                </a:solidFill>
              </a:rPr>
              <a:t>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981151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PROBLEM STATEMENT:</a:t>
            </a:r>
          </a:p>
        </p:txBody>
      </p:sp>
      <p:sp>
        <p:nvSpPr>
          <p:cNvPr id="4" name="Rectangle 3"/>
          <p:cNvSpPr/>
          <p:nvPr/>
        </p:nvSpPr>
        <p:spPr>
          <a:xfrm>
            <a:off x="10268712" y="201168"/>
            <a:ext cx="128016" cy="128016"/>
          </a:xfrm>
          <a:prstGeom prst="rect">
            <a:avLst/>
          </a:prstGeom>
          <a:solidFill>
            <a:srgbClr val="F25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419588" y="201168"/>
            <a:ext cx="128016" cy="128016"/>
          </a:xfrm>
          <a:prstGeom prst="rect">
            <a:avLst/>
          </a:prstGeom>
          <a:solidFill>
            <a:srgbClr val="7FB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68712" y="352044"/>
            <a:ext cx="128016" cy="128016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19588" y="352044"/>
            <a:ext cx="128016" cy="128016"/>
          </a:xfrm>
          <a:prstGeom prst="rect">
            <a:avLst/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11612" y="19202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FFFF"/>
                </a:solidFill>
              </a:rPr>
              <a:t>Microsoft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1612" y="36576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FFFF"/>
                </a:solidFill>
              </a:rPr>
              <a:t>Elevate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00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298448"/>
            <a:ext cx="11548872" cy="5148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000000"/>
                </a:solidFill>
              </a:rPr>
              <a:t>Kidney Renal Clear Cell Carcinoma (KIRC) is the most prevalent kidney cancer subtype, accounting for ~75% of all kidney malignancies. It has a 5-year survival rate below 12% for advanced metastatic disease, making accurate prognosis vital.</a:t>
            </a:r>
          </a:p>
          <a:p>
            <a:pPr/>
            <a:r>
              <a:rPr sz="1300">
                <a:solidFill>
                  <a:srgbClr val="000000"/>
                </a:solidFill>
              </a:rPr>
              <a:t/>
            </a:r>
          </a:p>
          <a:p>
            <a:pPr/>
            <a:r>
              <a:rPr sz="1300">
                <a:solidFill>
                  <a:srgbClr val="000000"/>
                </a:solidFill>
              </a:rPr>
              <a:t>Despite sharing the same histological type, KIRC patients exhibit dramatically different survival outcomes. Current AJCC clinical staging (Stages I–IV) is insufficient to predict individual patient prognosis or guide personalised treatment.</a:t>
            </a:r>
          </a:p>
          <a:p>
            <a:pPr/>
            <a:r>
              <a:rPr sz="1300">
                <a:solidFill>
                  <a:srgbClr val="000000"/>
                </a:solidFill>
              </a:rPr>
              <a:t/>
            </a:r>
          </a:p>
          <a:p>
            <a:pPr/>
            <a:r>
              <a:rPr sz="1300">
                <a:solidFill>
                  <a:srgbClr val="000000"/>
                </a:solidFill>
              </a:rPr>
              <a:t>The Cancer Genome Atlas (TCGA) provides high-dimensional genomic and clinical data for 533 KIRC patients. However, right-censored survival data and the high-dimensional gene expression space (20,530 genes) make standard regression methods inappropriate.</a:t>
            </a:r>
          </a:p>
          <a:p>
            <a:pPr/>
            <a:r>
              <a:rPr sz="1300">
                <a:solidFill>
                  <a:srgbClr val="000000"/>
                </a:solidFill>
              </a:rPr>
              <a:t/>
            </a:r>
          </a:p>
          <a:p>
            <a:pPr/>
            <a:r>
              <a:rPr sz="1300">
                <a:solidFill>
                  <a:srgbClr val="000000"/>
                </a:solidFill>
              </a:rPr>
              <a:t>There is a critical need for robust, interpretable, data-driven survival models that can: (1) accurately stratify patients into high- and low-risk groups, and (2) identify the key genomic and clinical features driving mortality in KIRC.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981151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PROPOSED SOLUTION:</a:t>
            </a:r>
          </a:p>
        </p:txBody>
      </p:sp>
      <p:sp>
        <p:nvSpPr>
          <p:cNvPr id="4" name="Rectangle 3"/>
          <p:cNvSpPr/>
          <p:nvPr/>
        </p:nvSpPr>
        <p:spPr>
          <a:xfrm>
            <a:off x="10268712" y="201168"/>
            <a:ext cx="128016" cy="128016"/>
          </a:xfrm>
          <a:prstGeom prst="rect">
            <a:avLst/>
          </a:prstGeom>
          <a:solidFill>
            <a:srgbClr val="F25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419588" y="201168"/>
            <a:ext cx="128016" cy="128016"/>
          </a:xfrm>
          <a:prstGeom prst="rect">
            <a:avLst/>
          </a:prstGeom>
          <a:solidFill>
            <a:srgbClr val="7FB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68712" y="352044"/>
            <a:ext cx="128016" cy="128016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19588" y="352044"/>
            <a:ext cx="128016" cy="128016"/>
          </a:xfrm>
          <a:prstGeom prst="rect">
            <a:avLst/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11612" y="19202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FFFF"/>
                </a:solidFill>
              </a:rPr>
              <a:t>Microsoft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1612" y="36576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FFFF"/>
                </a:solidFill>
              </a:rPr>
              <a:t>Elevate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00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298448"/>
            <a:ext cx="11548872" cy="5148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000000"/>
                </a:solidFill>
              </a:rPr>
              <a:t>The proposed system builds an end-to-end survival analysis pipeline on TCGA-KIRC data, applying four complementary machine learning models to predict patient survival and identify key prognostic biomarkers.</a:t>
            </a:r>
          </a:p>
          <a:p>
            <a:pPr/>
            <a:r>
              <a:rPr sz="1300">
                <a:solidFill>
                  <a:srgbClr val="000000"/>
                </a:solidFill>
              </a:rPr>
              <a:t/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1E355E"/>
                </a:solidFill>
              </a:rPr>
              <a:t>Data Collection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TCGA-KIRC clinical.tsv + follow_up.tsv  (GDC Portal, 537 patients, OS labels)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kirc_expression.tsv via UCSC Xena  (20,530 genes x 606 tumour samples)</a:t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1E355E"/>
                </a:solidFill>
              </a:rPr>
              <a:t>Data Preprocessing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Survival time and event derivation  |  patient ID alignment across datasets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Variance-based gene filtering: top 2,000 genes retained  |  StandardScaler normalisation</a:t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1E355E"/>
                </a:solidFill>
              </a:rPr>
              <a:t>Machine Learning Algorithms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Cox PH  |  LASSO-penalised Cox  |  Random Survival Forest  |  DeepSurv (PyTorch MLP)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70/30 stratified train/test split  |  5-fold CV for hyperparameter tuning</a:t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1E355E"/>
                </a:solidFill>
              </a:rPr>
              <a:t>Deployment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Live Streamlit dashboard: https://tcga-kirc.streamlit.app/  |  GitHub: https://github.com/LikithaDudala/tcga-kirc-project</a:t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1E355E"/>
                </a:solidFill>
              </a:rPr>
              <a:t>Evaluation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Concordance Index (C-index), Integrated Brier Score, Kaplan-Meier risk stratification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981151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SYSTEM DEVELOPMENT APPROACH  (Technology Used):</a:t>
            </a:r>
          </a:p>
        </p:txBody>
      </p:sp>
      <p:sp>
        <p:nvSpPr>
          <p:cNvPr id="4" name="Rectangle 3"/>
          <p:cNvSpPr/>
          <p:nvPr/>
        </p:nvSpPr>
        <p:spPr>
          <a:xfrm>
            <a:off x="10268712" y="201168"/>
            <a:ext cx="128016" cy="128016"/>
          </a:xfrm>
          <a:prstGeom prst="rect">
            <a:avLst/>
          </a:prstGeom>
          <a:solidFill>
            <a:srgbClr val="F25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419588" y="201168"/>
            <a:ext cx="128016" cy="128016"/>
          </a:xfrm>
          <a:prstGeom prst="rect">
            <a:avLst/>
          </a:prstGeom>
          <a:solidFill>
            <a:srgbClr val="7FB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68712" y="352044"/>
            <a:ext cx="128016" cy="128016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19588" y="352044"/>
            <a:ext cx="128016" cy="128016"/>
          </a:xfrm>
          <a:prstGeom prst="rect">
            <a:avLst/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11612" y="19202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FFFF"/>
                </a:solidFill>
              </a:rPr>
              <a:t>Microsoft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1612" y="36576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FFFF"/>
                </a:solidFill>
              </a:rPr>
              <a:t>Elevate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00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298448"/>
            <a:ext cx="5577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500" b="1">
                <a:solidFill>
                  <a:srgbClr val="1E355E"/>
                </a:solidFill>
              </a:rPr>
              <a:t>System Requirements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Python 3.12  |  Jupyter Notebook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Git + GitHub  (version control &amp; hosting)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Streamlit Cloud  (live deployment)</a:t>
            </a:r>
          </a:p>
          <a:p>
            <a:pPr/>
            <a:r>
              <a:rPr sz="1300">
                <a:solidFill>
                  <a:srgbClr val="000000"/>
                </a:solidFill>
              </a:rPr>
              <a:t/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1E355E"/>
                </a:solidFill>
              </a:rPr>
              <a:t>Data Sources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TCGA GDC Portal  —  clinical TSVs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UCSC Xena  —  RNA-seq gene expression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529 patients  |  20,530 genes  -&gt;  2,000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1298448"/>
            <a:ext cx="58521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500" b="1">
                <a:solidFill>
                  <a:srgbClr val="1E355E"/>
                </a:solidFill>
              </a:rPr>
              <a:t>Libraries Required to Build the Model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pandas, numpy          —  data wrangling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lifelines              —  Cox PH, Kaplan-Meier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scikit-survival        —  LASSO Cox, RSF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PyTorch                —  DeepSurv neural network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plotly, matplotlib     —  visualisations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scikit-learn           —  preprocessing &amp; metrics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streamlit              —  interactive dashboard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python-pptx            —  this presentation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97880" y="1353312"/>
            <a:ext cx="36576" cy="5120640"/>
          </a:xfrm>
          <a:prstGeom prst="rect">
            <a:avLst/>
          </a:prstGeom>
          <a:solidFill>
            <a:srgbClr val="CCD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981151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ALGORITHM &amp; DEPLOYMENT:</a:t>
            </a:r>
          </a:p>
        </p:txBody>
      </p:sp>
      <p:sp>
        <p:nvSpPr>
          <p:cNvPr id="4" name="Rectangle 3"/>
          <p:cNvSpPr/>
          <p:nvPr/>
        </p:nvSpPr>
        <p:spPr>
          <a:xfrm>
            <a:off x="10268712" y="201168"/>
            <a:ext cx="128016" cy="128016"/>
          </a:xfrm>
          <a:prstGeom prst="rect">
            <a:avLst/>
          </a:prstGeom>
          <a:solidFill>
            <a:srgbClr val="F25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419588" y="201168"/>
            <a:ext cx="128016" cy="128016"/>
          </a:xfrm>
          <a:prstGeom prst="rect">
            <a:avLst/>
          </a:prstGeom>
          <a:solidFill>
            <a:srgbClr val="7FB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68712" y="352044"/>
            <a:ext cx="128016" cy="128016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19588" y="352044"/>
            <a:ext cx="128016" cy="128016"/>
          </a:xfrm>
          <a:prstGeom prst="rect">
            <a:avLst/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11612" y="19202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FFFF"/>
                </a:solidFill>
              </a:rPr>
              <a:t>Microsoft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1612" y="36576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FFFF"/>
                </a:solidFill>
              </a:rPr>
              <a:t>Elevate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00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298448"/>
            <a:ext cx="11548872" cy="5148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500" b="1">
                <a:solidFill>
                  <a:srgbClr val="1E355E"/>
                </a:solidFill>
              </a:rPr>
              <a:t>Algorithm Selection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Four complementary survival models were chosen to capture linear, penalised, ensemble, and deep-learning representations of the survival task: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Cox Proportional Hazards — clinical features only; interpretable hazard ratios (baseline)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LASSO-penalised Cox (BEST) — clinical + 2,000 genes; L1 shrinkage auto-selects genes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Random Survival Forest  — 200 trees; captures non-linear gene interactions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DeepSurv (PyTorch)  — 3-layer MLP; Cox partial-likelihood loss; Adam; 200 epochs</a:t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1E355E"/>
                </a:solidFill>
              </a:rPr>
              <a:t>Data Input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Features: age, AJCC stage, gender + top 2,000 variance-ranked genes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Target: right-censored overall survival (time in days, event = 1 if deceased)</a:t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1E355E"/>
                </a:solidFill>
              </a:rPr>
              <a:t>Training Process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70/30 stratified train/test split  (370 train, 159 test)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5-fold CV for LASSO alpha  |  batch-norm + dropout(0.3) for DeepSurv</a:t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1E355E"/>
                </a:solidFill>
              </a:rPr>
              <a:t>Deployment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Models serialised via joblib (Cox/RSF) and torch.save (DeepSurv)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Streamlit app loads Cox PH + scaler; user enters clinical inputs -&gt; survival curve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Live:  https://tcga-kirc.streamlit.app/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981151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RESULT  (Output Images):</a:t>
            </a:r>
          </a:p>
        </p:txBody>
      </p:sp>
      <p:sp>
        <p:nvSpPr>
          <p:cNvPr id="4" name="Rectangle 3"/>
          <p:cNvSpPr/>
          <p:nvPr/>
        </p:nvSpPr>
        <p:spPr>
          <a:xfrm>
            <a:off x="10268712" y="201168"/>
            <a:ext cx="128016" cy="128016"/>
          </a:xfrm>
          <a:prstGeom prst="rect">
            <a:avLst/>
          </a:prstGeom>
          <a:solidFill>
            <a:srgbClr val="F25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419588" y="201168"/>
            <a:ext cx="128016" cy="128016"/>
          </a:xfrm>
          <a:prstGeom prst="rect">
            <a:avLst/>
          </a:prstGeom>
          <a:solidFill>
            <a:srgbClr val="7FB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68712" y="352044"/>
            <a:ext cx="128016" cy="128016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19588" y="352044"/>
            <a:ext cx="128016" cy="128016"/>
          </a:xfrm>
          <a:prstGeom prst="rect">
            <a:avLst/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11612" y="19202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FFFF"/>
                </a:solidFill>
              </a:rPr>
              <a:t>Microsoft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1612" y="36576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FFFF"/>
                </a:solidFill>
              </a:rPr>
              <a:t>Elevate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00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298448"/>
            <a:ext cx="3566160" cy="2148840"/>
          </a:xfrm>
          <a:prstGeom prst="rect">
            <a:avLst/>
          </a:prstGeom>
          <a:solidFill>
            <a:srgbClr val="EB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353312"/>
            <a:ext cx="33832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E355E"/>
                </a:solidFill>
              </a:rPr>
              <a:t>C-index  (Test Set)</a:t>
            </a:r>
          </a:p>
          <a:p>
            <a:r>
              <a:rPr sz="1100" b="1">
                <a:solidFill>
                  <a:srgbClr val="0053A5"/>
                </a:solidFill>
              </a:rPr>
              <a:t>  * LASSO Cox               0.8047</a:t>
            </a:r>
          </a:p>
          <a:p>
            <a:r>
              <a:rPr sz="1100" b="0">
                <a:solidFill>
                  <a:srgbClr val="1A1A2E"/>
                </a:solidFill>
              </a:rPr>
              <a:t>    Cox PH (clinical)       0.7809</a:t>
            </a:r>
          </a:p>
          <a:p>
            <a:r>
              <a:rPr sz="1100" b="0">
                <a:solidFill>
                  <a:srgbClr val="1A1A2E"/>
                </a:solidFill>
              </a:rPr>
              <a:t>    DeepSurv                0.7637</a:t>
            </a:r>
          </a:p>
          <a:p>
            <a:r>
              <a:rPr sz="1100" b="0">
                <a:solidFill>
                  <a:srgbClr val="1A1A2E"/>
                </a:solidFill>
              </a:rPr>
              <a:t>    Random Survival Forest  0.7161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566160"/>
            <a:ext cx="33832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E355E"/>
                </a:solidFill>
              </a:rPr>
              <a:t>Cohort Summary</a:t>
            </a:r>
          </a:p>
          <a:p>
            <a:r>
              <a:rPr sz="1100">
                <a:solidFill>
                  <a:srgbClr val="1A1A2E"/>
                </a:solidFill>
              </a:rPr>
              <a:t>  Patients:          529</a:t>
            </a:r>
          </a:p>
          <a:p>
            <a:r>
              <a:rPr sz="1100">
                <a:solidFill>
                  <a:srgbClr val="1A1A2E"/>
                </a:solidFill>
              </a:rPr>
              <a:t>  Events (deceased): 173  (32.7%)</a:t>
            </a:r>
          </a:p>
          <a:p>
            <a:r>
              <a:rPr sz="1100">
                <a:solidFill>
                  <a:srgbClr val="1A1A2E"/>
                </a:solidFill>
              </a:rPr>
              <a:t>  Censored (alive):  356</a:t>
            </a:r>
          </a:p>
          <a:p>
            <a:r>
              <a:rPr sz="1100">
                <a:solidFill>
                  <a:srgbClr val="1A1A2E"/>
                </a:solidFill>
              </a:rPr>
              <a:t>  Median follow-up:  1191 days</a:t>
            </a:r>
          </a:p>
          <a:p>
            <a:r>
              <a:rPr sz="1100">
                <a:solidFill>
                  <a:srgbClr val="1A1A2E"/>
                </a:solidFill>
              </a:rPr>
              <a:t>  Genes analysed:    2,000</a:t>
            </a:r>
          </a:p>
          <a:p>
            <a:r>
              <a:rPr sz="1100">
                <a:solidFill>
                  <a:srgbClr val="1A1A2E"/>
                </a:solidFill>
              </a:rPr>
              <a:t>  Brier Score (RSF): 0.154</a:t>
            </a:r>
          </a:p>
        </p:txBody>
      </p:sp>
      <p:pic>
        <p:nvPicPr>
          <p:cNvPr id="14" name="Picture 13" descr="09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1298448"/>
            <a:ext cx="4069080" cy="2651760"/>
          </a:xfrm>
          <a:prstGeom prst="rect">
            <a:avLst/>
          </a:prstGeom>
        </p:spPr>
      </p:pic>
      <p:pic>
        <p:nvPicPr>
          <p:cNvPr id="15" name="Picture 14" descr="03_km_over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298448"/>
            <a:ext cx="3794760" cy="2651760"/>
          </a:xfrm>
          <a:prstGeom prst="rect">
            <a:avLst/>
          </a:prstGeom>
        </p:spPr>
      </p:pic>
      <p:pic>
        <p:nvPicPr>
          <p:cNvPr id="16" name="Picture 15" descr="10_risk_stratific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7639" y="4069080"/>
            <a:ext cx="804672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981151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CONCLUSION:</a:t>
            </a:r>
          </a:p>
        </p:txBody>
      </p:sp>
      <p:sp>
        <p:nvSpPr>
          <p:cNvPr id="4" name="Rectangle 3"/>
          <p:cNvSpPr/>
          <p:nvPr/>
        </p:nvSpPr>
        <p:spPr>
          <a:xfrm>
            <a:off x="10268712" y="201168"/>
            <a:ext cx="128016" cy="128016"/>
          </a:xfrm>
          <a:prstGeom prst="rect">
            <a:avLst/>
          </a:prstGeom>
          <a:solidFill>
            <a:srgbClr val="F25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419588" y="201168"/>
            <a:ext cx="128016" cy="128016"/>
          </a:xfrm>
          <a:prstGeom prst="rect">
            <a:avLst/>
          </a:prstGeom>
          <a:solidFill>
            <a:srgbClr val="7FB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68712" y="352044"/>
            <a:ext cx="128016" cy="128016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19588" y="352044"/>
            <a:ext cx="128016" cy="128016"/>
          </a:xfrm>
          <a:prstGeom prst="rect">
            <a:avLst/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11612" y="19202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FFFF"/>
                </a:solidFill>
              </a:rPr>
              <a:t>Microsoft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1612" y="36576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FFFF"/>
                </a:solidFill>
              </a:rPr>
              <a:t>Elevate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00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298448"/>
            <a:ext cx="11548872" cy="5148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000000"/>
                </a:solidFill>
              </a:rPr>
              <a:t>This project developed and evaluated a complete end-to-end survival analysis pipeline on 529 TCGA-KIRC patients using high-dimensional gene expression data combined with clinical variables, comparing four distinct model families.</a:t>
            </a:r>
          </a:p>
          <a:p>
            <a:pPr/>
            <a:r>
              <a:rPr sz="1300">
                <a:solidFill>
                  <a:srgbClr val="000000"/>
                </a:solidFill>
              </a:rPr>
              <a:t/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1E355E"/>
                </a:solidFill>
              </a:rPr>
              <a:t>Key Findings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LASSO-penalised Cox achieved the best C-index of 0.8047, outperforming clinical-only Cox PH by delta-C = 0.0238.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Random Survival Forest confirmed non-linear gene interactions (Integrated Brier Score = 0.154).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Kaplan-Meier risk stratification shows clear high/low-risk separation (log-rank p &lt; 0.001).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LASSO identified a sparse, interpretable gene signature predictive of KIRC mortality.</a:t>
            </a:r>
          </a:p>
          <a:p>
            <a:pPr/>
            <a:r>
              <a:rPr sz="1300">
                <a:solidFill>
                  <a:srgbClr val="000000"/>
                </a:solidFill>
              </a:rPr>
              <a:t/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1E355E"/>
                </a:solidFill>
              </a:rPr>
              <a:t>Project Outcomes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Reproducible pipeline: raw TCGA data -&gt; trained models -&gt; interactive dashboard.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Live Streamlit app: https://tcga-kirc.streamlit.app/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Source code: https://github.com/LikithaDudala/tcga-kirc-project</a:t>
            </a:r>
          </a:p>
          <a:p>
            <a:pPr/>
            <a:r>
              <a:rPr sz="1300">
                <a:solidFill>
                  <a:srgbClr val="000000"/>
                </a:solidFill>
              </a:rPr>
              <a:t/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1E355E"/>
                </a:solidFill>
              </a:rPr>
              <a:t>Limitations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TCGA data may carry selection bias; model not validated on an external cohort.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981151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FUTURE SCOPE:</a:t>
            </a:r>
          </a:p>
        </p:txBody>
      </p:sp>
      <p:sp>
        <p:nvSpPr>
          <p:cNvPr id="4" name="Rectangle 3"/>
          <p:cNvSpPr/>
          <p:nvPr/>
        </p:nvSpPr>
        <p:spPr>
          <a:xfrm>
            <a:off x="10268712" y="201168"/>
            <a:ext cx="128016" cy="128016"/>
          </a:xfrm>
          <a:prstGeom prst="rect">
            <a:avLst/>
          </a:prstGeom>
          <a:solidFill>
            <a:srgbClr val="F25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419588" y="201168"/>
            <a:ext cx="128016" cy="128016"/>
          </a:xfrm>
          <a:prstGeom prst="rect">
            <a:avLst/>
          </a:prstGeom>
          <a:solidFill>
            <a:srgbClr val="7FB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68712" y="352044"/>
            <a:ext cx="128016" cy="128016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19588" y="352044"/>
            <a:ext cx="128016" cy="128016"/>
          </a:xfrm>
          <a:prstGeom prst="rect">
            <a:avLst/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11612" y="19202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FFFF"/>
                </a:solidFill>
              </a:rPr>
              <a:t>Microsoft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1612" y="36576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FFFF"/>
                </a:solidFill>
              </a:rPr>
              <a:t>Elevate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00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298448"/>
            <a:ext cx="11548872" cy="5148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500" b="1">
                <a:solidFill>
                  <a:srgbClr val="1E355E"/>
                </a:solidFill>
              </a:rPr>
              <a:t>Model Improvements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Ensemble / stacking of all 4 models for improved concordance.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Attention-based DeepSurv with pathway-level gene embeddings (Gene Ontology / KEGG).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Multi-omics integration: copy number variation, methylation, proteomics.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SHAP values for per-patient risk factor explanation (explainable AI).</a:t>
            </a:r>
          </a:p>
          <a:p>
            <a:pPr/>
            <a:r>
              <a:rPr sz="1300">
                <a:solidFill>
                  <a:srgbClr val="000000"/>
                </a:solidFill>
              </a:rPr>
              <a:t/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1E355E"/>
                </a:solidFill>
              </a:rPr>
              <a:t>Validation &amp; Clinical Translation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External validation on ICGC or CheckMate-025 / IMmotion151 datasets.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Prospective clinical pilot: integrate risk scores with EHR systems.</a:t>
            </a:r>
          </a:p>
          <a:p>
            <a:pPr/>
            <a:r>
              <a:rPr sz="1300">
                <a:solidFill>
                  <a:srgbClr val="000000"/>
                </a:solidFill>
              </a:rPr>
              <a:t/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1E355E"/>
                </a:solidFill>
              </a:rPr>
              <a:t>Engineering &amp; Deployment  (App already live: https://tcga-kirc.streamlit.app/)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REST API (FastAPI) for programmatic risk score queries from clinical systems.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Automated retraining pipeline as new TCGA data releases become available.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Multi-cancer extension: apply pipeline to TCGA-LUAD, TCGA-BRCA, TCGA-GBM.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981151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REFERENCES:</a:t>
            </a:r>
          </a:p>
        </p:txBody>
      </p:sp>
      <p:sp>
        <p:nvSpPr>
          <p:cNvPr id="4" name="Rectangle 3"/>
          <p:cNvSpPr/>
          <p:nvPr/>
        </p:nvSpPr>
        <p:spPr>
          <a:xfrm>
            <a:off x="10268712" y="201168"/>
            <a:ext cx="128016" cy="128016"/>
          </a:xfrm>
          <a:prstGeom prst="rect">
            <a:avLst/>
          </a:prstGeom>
          <a:solidFill>
            <a:srgbClr val="F25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419588" y="201168"/>
            <a:ext cx="128016" cy="128016"/>
          </a:xfrm>
          <a:prstGeom prst="rect">
            <a:avLst/>
          </a:prstGeom>
          <a:solidFill>
            <a:srgbClr val="7FB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68712" y="352044"/>
            <a:ext cx="128016" cy="128016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19588" y="352044"/>
            <a:ext cx="128016" cy="128016"/>
          </a:xfrm>
          <a:prstGeom prst="rect">
            <a:avLst/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11612" y="19202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FFFF"/>
                </a:solidFill>
              </a:rPr>
              <a:t>Microsoft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1612" y="36576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FFFF"/>
                </a:solidFill>
              </a:rPr>
              <a:t>Elevate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00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298448"/>
            <a:ext cx="11548872" cy="5148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500" b="1">
                <a:solidFill>
                  <a:srgbClr val="1E355E"/>
                </a:solidFill>
              </a:rPr>
              <a:t>Datasets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1.  The Cancer Genome Atlas (TCGA) — GDC Data Portal</a:t>
            </a:r>
          </a:p>
          <a:p>
            <a:pPr lvl="2"/>
            <a:r>
              <a:rPr sz="1300">
                <a:solidFill>
                  <a:srgbClr val="000000"/>
                </a:solidFill>
              </a:rPr>
              <a:t>https://portal.gdc.cancer.gov/projects/TCGA-KIRC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2.  UCSC Xena — RNA-seq gene expression</a:t>
            </a:r>
          </a:p>
          <a:p>
            <a:pPr lvl="2"/>
            <a:r>
              <a:rPr sz="1300">
                <a:solidFill>
                  <a:srgbClr val="000000"/>
                </a:solidFill>
              </a:rPr>
              <a:t>https://xenabrowser.net/datapages/</a:t>
            </a:r>
          </a:p>
          <a:p>
            <a:pPr/>
            <a:r>
              <a:rPr sz="1300">
                <a:solidFill>
                  <a:srgbClr val="000000"/>
                </a:solidFill>
              </a:rPr>
              <a:t/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1E355E"/>
                </a:solidFill>
              </a:rPr>
              <a:t>Libraries &amp; Frameworks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3.  Davidson-Pilon C. et al. (2019). lifelines. Journal of Open Source Software.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4.  Poelsterl S. (2020). scikit-survival. JMLR 21(212):1-6.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5.  Katzman J.L. et al. (2018). DeepSurv. BMC Med Res Methodol 18:24.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6.  Ricketts C.J. et al. (2018). TCGA KIRC. Cell Reports 23(1):313-326.</a:t>
            </a:r>
          </a:p>
          <a:p>
            <a:pPr/>
            <a:r>
              <a:rPr sz="1300">
                <a:solidFill>
                  <a:srgbClr val="000000"/>
                </a:solidFill>
              </a:rPr>
              <a:t/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1E355E"/>
                </a:solidFill>
              </a:rPr>
              <a:t>Project Links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GitHub:   https://github.com/LikithaDudala/tcga-kirc-project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Live App: https://tcga-kirc.streamlit.app/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268712" y="182880"/>
            <a:ext cx="128016" cy="128016"/>
          </a:xfrm>
          <a:prstGeom prst="rect">
            <a:avLst/>
          </a:prstGeom>
          <a:solidFill>
            <a:srgbClr val="F25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419588" y="182880"/>
            <a:ext cx="128016" cy="128016"/>
          </a:xfrm>
          <a:prstGeom prst="rect">
            <a:avLst/>
          </a:prstGeom>
          <a:solidFill>
            <a:srgbClr val="7FB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68712" y="333756"/>
            <a:ext cx="128016" cy="128016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19588" y="333756"/>
            <a:ext cx="128016" cy="128016"/>
          </a:xfrm>
          <a:prstGeom prst="rect">
            <a:avLst/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11612" y="17373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FFFF"/>
                </a:solidFill>
              </a:rPr>
              <a:t>Microsoft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11612" y="34747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FFFF"/>
                </a:solidFill>
              </a:rPr>
              <a:t>Elevate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00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112745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1E355E"/>
                </a:solidFill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